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0"/>
  </p:notesMasterIdLst>
  <p:sldIdLst>
    <p:sldId id="256" r:id="rId2"/>
    <p:sldId id="257" r:id="rId3"/>
    <p:sldId id="262" r:id="rId4"/>
    <p:sldId id="263" r:id="rId5"/>
    <p:sldId id="259" r:id="rId6"/>
    <p:sldId id="260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F80EDA-87D7-A330-50DD-6F333D992367}" v="33" dt="2025-02-03T23:09:40.536"/>
    <p1510:client id="{376A45DA-3E1C-B516-C91A-C0CE1858F766}" v="71" dt="2025-02-04T16:49:26.810"/>
    <p1510:client id="{D4AD6D76-50C2-4F57-8448-C0E826C49ECD}" v="769" dt="2025-02-04T17:09:44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2FEBE8-7DB0-4A5D-944B-24BDF42FD51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8AA2AE0-7050-4555-838D-07E2AB5AB24B}">
      <dgm:prSet/>
      <dgm:spPr/>
      <dgm:t>
        <a:bodyPr/>
        <a:lstStyle/>
        <a:p>
          <a:pPr>
            <a:defRPr cap="all"/>
          </a:pPr>
          <a:r>
            <a:rPr lang="en-US"/>
            <a:t>increase the percentage of budget allocated to aid</a:t>
          </a:r>
        </a:p>
      </dgm:t>
    </dgm:pt>
    <dgm:pt modelId="{7AB7E010-AA18-4CBD-A27C-A6E5806794FF}" type="parTrans" cxnId="{6B1F1800-0BB6-4D15-A267-965B9FDA53E1}">
      <dgm:prSet/>
      <dgm:spPr/>
      <dgm:t>
        <a:bodyPr/>
        <a:lstStyle/>
        <a:p>
          <a:endParaRPr lang="en-US"/>
        </a:p>
      </dgm:t>
    </dgm:pt>
    <dgm:pt modelId="{44BEB473-5F40-432A-903E-B1337E5923E5}" type="sibTrans" cxnId="{6B1F1800-0BB6-4D15-A267-965B9FDA53E1}">
      <dgm:prSet/>
      <dgm:spPr/>
      <dgm:t>
        <a:bodyPr/>
        <a:lstStyle/>
        <a:p>
          <a:endParaRPr lang="en-US"/>
        </a:p>
      </dgm:t>
    </dgm:pt>
    <dgm:pt modelId="{ECF12C1E-0930-418D-90DB-AD4B2C337FB7}">
      <dgm:prSet/>
      <dgm:spPr/>
      <dgm:t>
        <a:bodyPr/>
        <a:lstStyle/>
        <a:p>
          <a:pPr>
            <a:defRPr cap="all"/>
          </a:pPr>
          <a:r>
            <a:rPr lang="en-US"/>
            <a:t> </a:t>
          </a:r>
        </a:p>
      </dgm:t>
    </dgm:pt>
    <dgm:pt modelId="{4F1D3578-071F-4FDC-A43A-7F65BC777B93}" type="parTrans" cxnId="{C8C08DF4-6A87-4B87-B9E4-0C55E2623CD9}">
      <dgm:prSet/>
      <dgm:spPr/>
      <dgm:t>
        <a:bodyPr/>
        <a:lstStyle/>
        <a:p>
          <a:endParaRPr lang="en-US"/>
        </a:p>
      </dgm:t>
    </dgm:pt>
    <dgm:pt modelId="{6E6E4E50-C3CD-4AA1-BA42-D7D91031D110}" type="sibTrans" cxnId="{C8C08DF4-6A87-4B87-B9E4-0C55E2623CD9}">
      <dgm:prSet/>
      <dgm:spPr/>
      <dgm:t>
        <a:bodyPr/>
        <a:lstStyle/>
        <a:p>
          <a:endParaRPr lang="en-US"/>
        </a:p>
      </dgm:t>
    </dgm:pt>
    <dgm:pt modelId="{4144BD40-D365-403E-9C36-8118936F4465}">
      <dgm:prSet/>
      <dgm:spPr/>
      <dgm:t>
        <a:bodyPr/>
        <a:lstStyle/>
        <a:p>
          <a:pPr>
            <a:defRPr cap="all"/>
          </a:pPr>
          <a:r>
            <a:rPr lang="en-US"/>
            <a:t>Tuition Strategy &amp; Cost Control</a:t>
          </a:r>
        </a:p>
      </dgm:t>
    </dgm:pt>
    <dgm:pt modelId="{2CDF52A5-21A8-4193-92EC-4742937579CC}" type="parTrans" cxnId="{70C0020F-2770-41FC-8BAD-0A9286F6C714}">
      <dgm:prSet/>
      <dgm:spPr/>
      <dgm:t>
        <a:bodyPr/>
        <a:lstStyle/>
        <a:p>
          <a:endParaRPr lang="en-US"/>
        </a:p>
      </dgm:t>
    </dgm:pt>
    <dgm:pt modelId="{56881966-E9E6-4675-B113-FC649527E83F}" type="sibTrans" cxnId="{70C0020F-2770-41FC-8BAD-0A9286F6C714}">
      <dgm:prSet/>
      <dgm:spPr/>
      <dgm:t>
        <a:bodyPr/>
        <a:lstStyle/>
        <a:p>
          <a:endParaRPr lang="en-US"/>
        </a:p>
      </dgm:t>
    </dgm:pt>
    <dgm:pt modelId="{EA35E43E-3D77-4FE7-8DE3-01435CACF9A0}">
      <dgm:prSet/>
      <dgm:spPr/>
      <dgm:t>
        <a:bodyPr/>
        <a:lstStyle/>
        <a:p>
          <a:pPr>
            <a:defRPr cap="all"/>
          </a:pPr>
          <a:r>
            <a:rPr lang="en-US"/>
            <a:t>Improve communication of existing support </a:t>
          </a:r>
        </a:p>
      </dgm:t>
    </dgm:pt>
    <dgm:pt modelId="{FB6B4E4C-3955-46E0-83B3-14CDF7BBF26C}" type="parTrans" cxnId="{C0AF3CC6-3806-4CE1-815D-7DC159683D2E}">
      <dgm:prSet/>
      <dgm:spPr/>
      <dgm:t>
        <a:bodyPr/>
        <a:lstStyle/>
        <a:p>
          <a:endParaRPr lang="en-US"/>
        </a:p>
      </dgm:t>
    </dgm:pt>
    <dgm:pt modelId="{F793BC2D-CA6D-43B4-A9A5-F1214D49283A}" type="sibTrans" cxnId="{C0AF3CC6-3806-4CE1-815D-7DC159683D2E}">
      <dgm:prSet/>
      <dgm:spPr/>
      <dgm:t>
        <a:bodyPr/>
        <a:lstStyle/>
        <a:p>
          <a:endParaRPr lang="en-US"/>
        </a:p>
      </dgm:t>
    </dgm:pt>
    <dgm:pt modelId="{001949F8-299F-42C5-B514-018C92014A75}">
      <dgm:prSet/>
      <dgm:spPr/>
      <dgm:t>
        <a:bodyPr/>
        <a:lstStyle/>
        <a:p>
          <a:pPr>
            <a:defRPr cap="all"/>
          </a:pPr>
          <a:r>
            <a:rPr lang="en-US"/>
            <a:t>Develop targeted aid packages </a:t>
          </a:r>
        </a:p>
      </dgm:t>
    </dgm:pt>
    <dgm:pt modelId="{E2BDE24C-091E-430D-8E66-1A63536C8546}" type="parTrans" cxnId="{3DBC3971-7A85-42F2-B8BA-D869EFAFE6E5}">
      <dgm:prSet/>
      <dgm:spPr/>
      <dgm:t>
        <a:bodyPr/>
        <a:lstStyle/>
        <a:p>
          <a:endParaRPr lang="en-US"/>
        </a:p>
      </dgm:t>
    </dgm:pt>
    <dgm:pt modelId="{5A0D3DC0-4B78-4F09-A1D2-0E5286649BD8}" type="sibTrans" cxnId="{3DBC3971-7A85-42F2-B8BA-D869EFAFE6E5}">
      <dgm:prSet/>
      <dgm:spPr/>
      <dgm:t>
        <a:bodyPr/>
        <a:lstStyle/>
        <a:p>
          <a:endParaRPr lang="en-US"/>
        </a:p>
      </dgm:t>
    </dgm:pt>
    <dgm:pt modelId="{99CA5000-7814-407E-A4A4-6287B532756C}" type="pres">
      <dgm:prSet presAssocID="{012FEBE8-7DB0-4A5D-944B-24BDF42FD518}" presName="outerComposite" presStyleCnt="0">
        <dgm:presLayoutVars>
          <dgm:chMax val="5"/>
          <dgm:dir/>
          <dgm:resizeHandles val="exact"/>
        </dgm:presLayoutVars>
      </dgm:prSet>
      <dgm:spPr/>
    </dgm:pt>
    <dgm:pt modelId="{B0ACC5A4-A866-4B42-B14B-C129B98458A8}" type="pres">
      <dgm:prSet presAssocID="{012FEBE8-7DB0-4A5D-944B-24BDF42FD518}" presName="dummyMaxCanvas" presStyleCnt="0">
        <dgm:presLayoutVars/>
      </dgm:prSet>
      <dgm:spPr/>
    </dgm:pt>
    <dgm:pt modelId="{8EF7A570-850F-4FB7-ADA3-C1F896CFDC38}" type="pres">
      <dgm:prSet presAssocID="{012FEBE8-7DB0-4A5D-944B-24BDF42FD518}" presName="FiveNodes_1" presStyleLbl="node1" presStyleIdx="0" presStyleCnt="5">
        <dgm:presLayoutVars>
          <dgm:bulletEnabled val="1"/>
        </dgm:presLayoutVars>
      </dgm:prSet>
      <dgm:spPr/>
    </dgm:pt>
    <dgm:pt modelId="{B461DCF1-8ADF-4B33-AC7B-532DB3971765}" type="pres">
      <dgm:prSet presAssocID="{012FEBE8-7DB0-4A5D-944B-24BDF42FD518}" presName="FiveNodes_2" presStyleLbl="node1" presStyleIdx="1" presStyleCnt="5">
        <dgm:presLayoutVars>
          <dgm:bulletEnabled val="1"/>
        </dgm:presLayoutVars>
      </dgm:prSet>
      <dgm:spPr/>
    </dgm:pt>
    <dgm:pt modelId="{68A2CE77-AA77-46AD-8C21-B5B088850A81}" type="pres">
      <dgm:prSet presAssocID="{012FEBE8-7DB0-4A5D-944B-24BDF42FD518}" presName="FiveNodes_3" presStyleLbl="node1" presStyleIdx="2" presStyleCnt="5">
        <dgm:presLayoutVars>
          <dgm:bulletEnabled val="1"/>
        </dgm:presLayoutVars>
      </dgm:prSet>
      <dgm:spPr/>
    </dgm:pt>
    <dgm:pt modelId="{4D77F900-DBED-4550-84D3-179B70F65F06}" type="pres">
      <dgm:prSet presAssocID="{012FEBE8-7DB0-4A5D-944B-24BDF42FD518}" presName="FiveNodes_4" presStyleLbl="node1" presStyleIdx="3" presStyleCnt="5">
        <dgm:presLayoutVars>
          <dgm:bulletEnabled val="1"/>
        </dgm:presLayoutVars>
      </dgm:prSet>
      <dgm:spPr/>
    </dgm:pt>
    <dgm:pt modelId="{47DCD766-8336-45E8-91BB-C78EB7097A4D}" type="pres">
      <dgm:prSet presAssocID="{012FEBE8-7DB0-4A5D-944B-24BDF42FD518}" presName="FiveNodes_5" presStyleLbl="node1" presStyleIdx="4" presStyleCnt="5">
        <dgm:presLayoutVars>
          <dgm:bulletEnabled val="1"/>
        </dgm:presLayoutVars>
      </dgm:prSet>
      <dgm:spPr/>
    </dgm:pt>
    <dgm:pt modelId="{0930738B-0A9B-4994-B9AA-7699B8F28CAF}" type="pres">
      <dgm:prSet presAssocID="{012FEBE8-7DB0-4A5D-944B-24BDF42FD518}" presName="FiveConn_1-2" presStyleLbl="fgAccFollowNode1" presStyleIdx="0" presStyleCnt="4">
        <dgm:presLayoutVars>
          <dgm:bulletEnabled val="1"/>
        </dgm:presLayoutVars>
      </dgm:prSet>
      <dgm:spPr/>
    </dgm:pt>
    <dgm:pt modelId="{73EEBBE3-DC84-4C2E-B864-EAB993009BCE}" type="pres">
      <dgm:prSet presAssocID="{012FEBE8-7DB0-4A5D-944B-24BDF42FD518}" presName="FiveConn_2-3" presStyleLbl="fgAccFollowNode1" presStyleIdx="1" presStyleCnt="4">
        <dgm:presLayoutVars>
          <dgm:bulletEnabled val="1"/>
        </dgm:presLayoutVars>
      </dgm:prSet>
      <dgm:spPr/>
    </dgm:pt>
    <dgm:pt modelId="{18E32F23-6FFC-4138-916E-2D34D41CB903}" type="pres">
      <dgm:prSet presAssocID="{012FEBE8-7DB0-4A5D-944B-24BDF42FD518}" presName="FiveConn_3-4" presStyleLbl="fgAccFollowNode1" presStyleIdx="2" presStyleCnt="4">
        <dgm:presLayoutVars>
          <dgm:bulletEnabled val="1"/>
        </dgm:presLayoutVars>
      </dgm:prSet>
      <dgm:spPr/>
    </dgm:pt>
    <dgm:pt modelId="{DB8D07E9-9B52-48DE-9D1B-0A71D2D38CAD}" type="pres">
      <dgm:prSet presAssocID="{012FEBE8-7DB0-4A5D-944B-24BDF42FD518}" presName="FiveConn_4-5" presStyleLbl="fgAccFollowNode1" presStyleIdx="3" presStyleCnt="4">
        <dgm:presLayoutVars>
          <dgm:bulletEnabled val="1"/>
        </dgm:presLayoutVars>
      </dgm:prSet>
      <dgm:spPr/>
    </dgm:pt>
    <dgm:pt modelId="{44BB06E5-0399-41B8-BE52-D93E2DCB3D53}" type="pres">
      <dgm:prSet presAssocID="{012FEBE8-7DB0-4A5D-944B-24BDF42FD518}" presName="FiveNodes_1_text" presStyleLbl="node1" presStyleIdx="4" presStyleCnt="5">
        <dgm:presLayoutVars>
          <dgm:bulletEnabled val="1"/>
        </dgm:presLayoutVars>
      </dgm:prSet>
      <dgm:spPr/>
    </dgm:pt>
    <dgm:pt modelId="{940F9B92-13ED-4CCC-98AD-84F7A2EF3BDC}" type="pres">
      <dgm:prSet presAssocID="{012FEBE8-7DB0-4A5D-944B-24BDF42FD518}" presName="FiveNodes_2_text" presStyleLbl="node1" presStyleIdx="4" presStyleCnt="5">
        <dgm:presLayoutVars>
          <dgm:bulletEnabled val="1"/>
        </dgm:presLayoutVars>
      </dgm:prSet>
      <dgm:spPr/>
    </dgm:pt>
    <dgm:pt modelId="{5222877C-D925-4AB2-8EA5-65ED13E7B41A}" type="pres">
      <dgm:prSet presAssocID="{012FEBE8-7DB0-4A5D-944B-24BDF42FD518}" presName="FiveNodes_3_text" presStyleLbl="node1" presStyleIdx="4" presStyleCnt="5">
        <dgm:presLayoutVars>
          <dgm:bulletEnabled val="1"/>
        </dgm:presLayoutVars>
      </dgm:prSet>
      <dgm:spPr/>
    </dgm:pt>
    <dgm:pt modelId="{B9B3084E-8F0F-47EF-BF47-DC1526528611}" type="pres">
      <dgm:prSet presAssocID="{012FEBE8-7DB0-4A5D-944B-24BDF42FD518}" presName="FiveNodes_4_text" presStyleLbl="node1" presStyleIdx="4" presStyleCnt="5">
        <dgm:presLayoutVars>
          <dgm:bulletEnabled val="1"/>
        </dgm:presLayoutVars>
      </dgm:prSet>
      <dgm:spPr/>
    </dgm:pt>
    <dgm:pt modelId="{AEC9C57A-2513-4981-91C2-B8ED664D6BAF}" type="pres">
      <dgm:prSet presAssocID="{012FEBE8-7DB0-4A5D-944B-24BDF42FD51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B1F1800-0BB6-4D15-A267-965B9FDA53E1}" srcId="{012FEBE8-7DB0-4A5D-944B-24BDF42FD518}" destId="{E8AA2AE0-7050-4555-838D-07E2AB5AB24B}" srcOrd="0" destOrd="0" parTransId="{7AB7E010-AA18-4CBD-A27C-A6E5806794FF}" sibTransId="{44BEB473-5F40-432A-903E-B1337E5923E5}"/>
    <dgm:cxn modelId="{59B5B004-FD81-44A0-9C33-9093FB98958A}" type="presOf" srcId="{ECF12C1E-0930-418D-90DB-AD4B2C337FB7}" destId="{940F9B92-13ED-4CCC-98AD-84F7A2EF3BDC}" srcOrd="1" destOrd="0" presId="urn:microsoft.com/office/officeart/2005/8/layout/vProcess5"/>
    <dgm:cxn modelId="{70C0020F-2770-41FC-8BAD-0A9286F6C714}" srcId="{012FEBE8-7DB0-4A5D-944B-24BDF42FD518}" destId="{4144BD40-D365-403E-9C36-8118936F4465}" srcOrd="2" destOrd="0" parTransId="{2CDF52A5-21A8-4193-92EC-4742937579CC}" sibTransId="{56881966-E9E6-4675-B113-FC649527E83F}"/>
    <dgm:cxn modelId="{A453F02A-BC89-4D32-99EB-A6C4C327B101}" type="presOf" srcId="{44BEB473-5F40-432A-903E-B1337E5923E5}" destId="{0930738B-0A9B-4994-B9AA-7699B8F28CAF}" srcOrd="0" destOrd="0" presId="urn:microsoft.com/office/officeart/2005/8/layout/vProcess5"/>
    <dgm:cxn modelId="{09FB6D3D-6480-4BF0-A17D-E83EEC2CC2B6}" type="presOf" srcId="{56881966-E9E6-4675-B113-FC649527E83F}" destId="{18E32F23-6FFC-4138-916E-2D34D41CB903}" srcOrd="0" destOrd="0" presId="urn:microsoft.com/office/officeart/2005/8/layout/vProcess5"/>
    <dgm:cxn modelId="{497FE95D-5A41-47E5-9E87-471DB01C4BBC}" type="presOf" srcId="{EA35E43E-3D77-4FE7-8DE3-01435CACF9A0}" destId="{4D77F900-DBED-4550-84D3-179B70F65F06}" srcOrd="0" destOrd="0" presId="urn:microsoft.com/office/officeart/2005/8/layout/vProcess5"/>
    <dgm:cxn modelId="{2D9CA464-B66E-45E9-AEFC-1294B71275FF}" type="presOf" srcId="{F793BC2D-CA6D-43B4-A9A5-F1214D49283A}" destId="{DB8D07E9-9B52-48DE-9D1B-0A71D2D38CAD}" srcOrd="0" destOrd="0" presId="urn:microsoft.com/office/officeart/2005/8/layout/vProcess5"/>
    <dgm:cxn modelId="{3DBC3971-7A85-42F2-B8BA-D869EFAFE6E5}" srcId="{012FEBE8-7DB0-4A5D-944B-24BDF42FD518}" destId="{001949F8-299F-42C5-B514-018C92014A75}" srcOrd="4" destOrd="0" parTransId="{E2BDE24C-091E-430D-8E66-1A63536C8546}" sibTransId="{5A0D3DC0-4B78-4F09-A1D2-0E5286649BD8}"/>
    <dgm:cxn modelId="{759BFA57-B410-4493-A5D4-01F74CA2BBBC}" type="presOf" srcId="{E8AA2AE0-7050-4555-838D-07E2AB5AB24B}" destId="{8EF7A570-850F-4FB7-ADA3-C1F896CFDC38}" srcOrd="0" destOrd="0" presId="urn:microsoft.com/office/officeart/2005/8/layout/vProcess5"/>
    <dgm:cxn modelId="{DACFDA9D-C0F2-4CBC-898E-797EBE25BDDD}" type="presOf" srcId="{001949F8-299F-42C5-B514-018C92014A75}" destId="{47DCD766-8336-45E8-91BB-C78EB7097A4D}" srcOrd="0" destOrd="0" presId="urn:microsoft.com/office/officeart/2005/8/layout/vProcess5"/>
    <dgm:cxn modelId="{DF4492A0-886A-4AC9-82D9-923AD006B609}" type="presOf" srcId="{4144BD40-D365-403E-9C36-8118936F4465}" destId="{5222877C-D925-4AB2-8EA5-65ED13E7B41A}" srcOrd="1" destOrd="0" presId="urn:microsoft.com/office/officeart/2005/8/layout/vProcess5"/>
    <dgm:cxn modelId="{791A75BC-F1C8-46AB-8852-E53C1CCD7D84}" type="presOf" srcId="{6E6E4E50-C3CD-4AA1-BA42-D7D91031D110}" destId="{73EEBBE3-DC84-4C2E-B864-EAB993009BCE}" srcOrd="0" destOrd="0" presId="urn:microsoft.com/office/officeart/2005/8/layout/vProcess5"/>
    <dgm:cxn modelId="{C0AF3CC6-3806-4CE1-815D-7DC159683D2E}" srcId="{012FEBE8-7DB0-4A5D-944B-24BDF42FD518}" destId="{EA35E43E-3D77-4FE7-8DE3-01435CACF9A0}" srcOrd="3" destOrd="0" parTransId="{FB6B4E4C-3955-46E0-83B3-14CDF7BBF26C}" sibTransId="{F793BC2D-CA6D-43B4-A9A5-F1214D49283A}"/>
    <dgm:cxn modelId="{02C14FC9-84BE-4AE1-A103-8BA372B26612}" type="presOf" srcId="{E8AA2AE0-7050-4555-838D-07E2AB5AB24B}" destId="{44BB06E5-0399-41B8-BE52-D93E2DCB3D53}" srcOrd="1" destOrd="0" presId="urn:microsoft.com/office/officeart/2005/8/layout/vProcess5"/>
    <dgm:cxn modelId="{953728D5-6C00-4D1F-83BD-97AB2C5D7576}" type="presOf" srcId="{4144BD40-D365-403E-9C36-8118936F4465}" destId="{68A2CE77-AA77-46AD-8C21-B5B088850A81}" srcOrd="0" destOrd="0" presId="urn:microsoft.com/office/officeart/2005/8/layout/vProcess5"/>
    <dgm:cxn modelId="{DD3436D9-516A-4F05-B182-6526BDE7121E}" type="presOf" srcId="{EA35E43E-3D77-4FE7-8DE3-01435CACF9A0}" destId="{B9B3084E-8F0F-47EF-BF47-DC1526528611}" srcOrd="1" destOrd="0" presId="urn:microsoft.com/office/officeart/2005/8/layout/vProcess5"/>
    <dgm:cxn modelId="{8BC4E9DA-A7CC-4277-9B18-712E4C3831B8}" type="presOf" srcId="{001949F8-299F-42C5-B514-018C92014A75}" destId="{AEC9C57A-2513-4981-91C2-B8ED664D6BAF}" srcOrd="1" destOrd="0" presId="urn:microsoft.com/office/officeart/2005/8/layout/vProcess5"/>
    <dgm:cxn modelId="{C8EEF3E3-4082-4001-BA81-030284AFFA65}" type="presOf" srcId="{ECF12C1E-0930-418D-90DB-AD4B2C337FB7}" destId="{B461DCF1-8ADF-4B33-AC7B-532DB3971765}" srcOrd="0" destOrd="0" presId="urn:microsoft.com/office/officeart/2005/8/layout/vProcess5"/>
    <dgm:cxn modelId="{604464E7-2DCB-4B31-BE0A-BAEB0EDB8392}" type="presOf" srcId="{012FEBE8-7DB0-4A5D-944B-24BDF42FD518}" destId="{99CA5000-7814-407E-A4A4-6287B532756C}" srcOrd="0" destOrd="0" presId="urn:microsoft.com/office/officeart/2005/8/layout/vProcess5"/>
    <dgm:cxn modelId="{C8C08DF4-6A87-4B87-B9E4-0C55E2623CD9}" srcId="{012FEBE8-7DB0-4A5D-944B-24BDF42FD518}" destId="{ECF12C1E-0930-418D-90DB-AD4B2C337FB7}" srcOrd="1" destOrd="0" parTransId="{4F1D3578-071F-4FDC-A43A-7F65BC777B93}" sibTransId="{6E6E4E50-C3CD-4AA1-BA42-D7D91031D110}"/>
    <dgm:cxn modelId="{F8B5E43B-CB05-4504-9116-53A79AB582FA}" type="presParOf" srcId="{99CA5000-7814-407E-A4A4-6287B532756C}" destId="{B0ACC5A4-A866-4B42-B14B-C129B98458A8}" srcOrd="0" destOrd="0" presId="urn:microsoft.com/office/officeart/2005/8/layout/vProcess5"/>
    <dgm:cxn modelId="{4B7EEB05-5669-4A9C-8E64-8F427031B07E}" type="presParOf" srcId="{99CA5000-7814-407E-A4A4-6287B532756C}" destId="{8EF7A570-850F-4FB7-ADA3-C1F896CFDC38}" srcOrd="1" destOrd="0" presId="urn:microsoft.com/office/officeart/2005/8/layout/vProcess5"/>
    <dgm:cxn modelId="{C550C771-A0C7-4CDC-B088-512B364FC042}" type="presParOf" srcId="{99CA5000-7814-407E-A4A4-6287B532756C}" destId="{B461DCF1-8ADF-4B33-AC7B-532DB3971765}" srcOrd="2" destOrd="0" presId="urn:microsoft.com/office/officeart/2005/8/layout/vProcess5"/>
    <dgm:cxn modelId="{93B99916-77E1-4E61-9C19-C87A7130545F}" type="presParOf" srcId="{99CA5000-7814-407E-A4A4-6287B532756C}" destId="{68A2CE77-AA77-46AD-8C21-B5B088850A81}" srcOrd="3" destOrd="0" presId="urn:microsoft.com/office/officeart/2005/8/layout/vProcess5"/>
    <dgm:cxn modelId="{C13E1239-97DF-4A44-920F-17B8CD8C907B}" type="presParOf" srcId="{99CA5000-7814-407E-A4A4-6287B532756C}" destId="{4D77F900-DBED-4550-84D3-179B70F65F06}" srcOrd="4" destOrd="0" presId="urn:microsoft.com/office/officeart/2005/8/layout/vProcess5"/>
    <dgm:cxn modelId="{3D46F3F2-42A7-41BE-A3FE-974C6AE2F49D}" type="presParOf" srcId="{99CA5000-7814-407E-A4A4-6287B532756C}" destId="{47DCD766-8336-45E8-91BB-C78EB7097A4D}" srcOrd="5" destOrd="0" presId="urn:microsoft.com/office/officeart/2005/8/layout/vProcess5"/>
    <dgm:cxn modelId="{1E622643-F31A-4FFD-ACC2-0E47834D9BD2}" type="presParOf" srcId="{99CA5000-7814-407E-A4A4-6287B532756C}" destId="{0930738B-0A9B-4994-B9AA-7699B8F28CAF}" srcOrd="6" destOrd="0" presId="urn:microsoft.com/office/officeart/2005/8/layout/vProcess5"/>
    <dgm:cxn modelId="{53583E24-152C-4CC7-8AEB-BBB98FB9F108}" type="presParOf" srcId="{99CA5000-7814-407E-A4A4-6287B532756C}" destId="{73EEBBE3-DC84-4C2E-B864-EAB993009BCE}" srcOrd="7" destOrd="0" presId="urn:microsoft.com/office/officeart/2005/8/layout/vProcess5"/>
    <dgm:cxn modelId="{830FFF1A-511C-4530-A3AB-B1E6F7D74827}" type="presParOf" srcId="{99CA5000-7814-407E-A4A4-6287B532756C}" destId="{18E32F23-6FFC-4138-916E-2D34D41CB903}" srcOrd="8" destOrd="0" presId="urn:microsoft.com/office/officeart/2005/8/layout/vProcess5"/>
    <dgm:cxn modelId="{3CF157BE-31ED-4057-A87F-422A523F6A03}" type="presParOf" srcId="{99CA5000-7814-407E-A4A4-6287B532756C}" destId="{DB8D07E9-9B52-48DE-9D1B-0A71D2D38CAD}" srcOrd="9" destOrd="0" presId="urn:microsoft.com/office/officeart/2005/8/layout/vProcess5"/>
    <dgm:cxn modelId="{9194C811-3053-40AA-B9D8-FB635432722D}" type="presParOf" srcId="{99CA5000-7814-407E-A4A4-6287B532756C}" destId="{44BB06E5-0399-41B8-BE52-D93E2DCB3D53}" srcOrd="10" destOrd="0" presId="urn:microsoft.com/office/officeart/2005/8/layout/vProcess5"/>
    <dgm:cxn modelId="{0B0CC6BA-6A8D-414E-BA29-EA6612379533}" type="presParOf" srcId="{99CA5000-7814-407E-A4A4-6287B532756C}" destId="{940F9B92-13ED-4CCC-98AD-84F7A2EF3BDC}" srcOrd="11" destOrd="0" presId="urn:microsoft.com/office/officeart/2005/8/layout/vProcess5"/>
    <dgm:cxn modelId="{A4371C91-0794-4F58-8B7C-5B9B681245B2}" type="presParOf" srcId="{99CA5000-7814-407E-A4A4-6287B532756C}" destId="{5222877C-D925-4AB2-8EA5-65ED13E7B41A}" srcOrd="12" destOrd="0" presId="urn:microsoft.com/office/officeart/2005/8/layout/vProcess5"/>
    <dgm:cxn modelId="{C1B04B92-92F6-43E0-8560-4C98797235CC}" type="presParOf" srcId="{99CA5000-7814-407E-A4A4-6287B532756C}" destId="{B9B3084E-8F0F-47EF-BF47-DC1526528611}" srcOrd="13" destOrd="0" presId="urn:microsoft.com/office/officeart/2005/8/layout/vProcess5"/>
    <dgm:cxn modelId="{BCEEFCA0-0062-426E-A0F8-4FE8453A5D17}" type="presParOf" srcId="{99CA5000-7814-407E-A4A4-6287B532756C}" destId="{AEC9C57A-2513-4981-91C2-B8ED664D6BA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F7A570-850F-4FB7-ADA3-C1F896CFDC38}">
      <dsp:nvSpPr>
        <dsp:cNvPr id="0" name=""/>
        <dsp:cNvSpPr/>
      </dsp:nvSpPr>
      <dsp:spPr>
        <a:xfrm>
          <a:off x="0" y="0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increase the percentage of budget allocated to aid</a:t>
          </a:r>
        </a:p>
      </dsp:txBody>
      <dsp:txXfrm>
        <a:off x="19451" y="19451"/>
        <a:ext cx="7620120" cy="625190"/>
      </dsp:txXfrm>
    </dsp:sp>
    <dsp:sp modelId="{B461DCF1-8ADF-4B33-AC7B-532DB3971765}">
      <dsp:nvSpPr>
        <dsp:cNvPr id="0" name=""/>
        <dsp:cNvSpPr/>
      </dsp:nvSpPr>
      <dsp:spPr>
        <a:xfrm>
          <a:off x="628350" y="756328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239517"/>
            <a:satOff val="-1369"/>
            <a:lumOff val="13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 </a:t>
          </a:r>
        </a:p>
      </dsp:txBody>
      <dsp:txXfrm>
        <a:off x="647801" y="775779"/>
        <a:ext cx="7315515" cy="625190"/>
      </dsp:txXfrm>
    </dsp:sp>
    <dsp:sp modelId="{68A2CE77-AA77-46AD-8C21-B5B088850A81}">
      <dsp:nvSpPr>
        <dsp:cNvPr id="0" name=""/>
        <dsp:cNvSpPr/>
      </dsp:nvSpPr>
      <dsp:spPr>
        <a:xfrm>
          <a:off x="1256700" y="1512656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479033"/>
            <a:satOff val="-2738"/>
            <a:lumOff val="264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Tuition Strategy &amp; Cost Control</a:t>
          </a:r>
        </a:p>
      </dsp:txBody>
      <dsp:txXfrm>
        <a:off x="1276151" y="1532107"/>
        <a:ext cx="7315515" cy="625190"/>
      </dsp:txXfrm>
    </dsp:sp>
    <dsp:sp modelId="{4D77F900-DBED-4550-84D3-179B70F65F06}">
      <dsp:nvSpPr>
        <dsp:cNvPr id="0" name=""/>
        <dsp:cNvSpPr/>
      </dsp:nvSpPr>
      <dsp:spPr>
        <a:xfrm>
          <a:off x="1885050" y="2268984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718550"/>
            <a:satOff val="-4106"/>
            <a:lumOff val="39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Improve communication of existing support </a:t>
          </a:r>
        </a:p>
      </dsp:txBody>
      <dsp:txXfrm>
        <a:off x="1904501" y="2288435"/>
        <a:ext cx="7315515" cy="625190"/>
      </dsp:txXfrm>
    </dsp:sp>
    <dsp:sp modelId="{47DCD766-8336-45E8-91BB-C78EB7097A4D}">
      <dsp:nvSpPr>
        <dsp:cNvPr id="0" name=""/>
        <dsp:cNvSpPr/>
      </dsp:nvSpPr>
      <dsp:spPr>
        <a:xfrm>
          <a:off x="2513400" y="3025312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958067"/>
            <a:satOff val="-5475"/>
            <a:lumOff val="52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Develop targeted aid packages </a:t>
          </a:r>
        </a:p>
      </dsp:txBody>
      <dsp:txXfrm>
        <a:off x="2532851" y="3044763"/>
        <a:ext cx="7315515" cy="625190"/>
      </dsp:txXfrm>
    </dsp:sp>
    <dsp:sp modelId="{0930738B-0A9B-4994-B9AA-7699B8F28CAF}">
      <dsp:nvSpPr>
        <dsp:cNvPr id="0" name=""/>
        <dsp:cNvSpPr/>
      </dsp:nvSpPr>
      <dsp:spPr>
        <a:xfrm>
          <a:off x="7982767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79890" y="485156"/>
        <a:ext cx="237414" cy="324824"/>
      </dsp:txXfrm>
    </dsp:sp>
    <dsp:sp modelId="{73EEBBE3-DC84-4C2E-B864-EAB993009BCE}">
      <dsp:nvSpPr>
        <dsp:cNvPr id="0" name=""/>
        <dsp:cNvSpPr/>
      </dsp:nvSpPr>
      <dsp:spPr>
        <a:xfrm>
          <a:off x="8611118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7043"/>
            <a:satOff val="3322"/>
            <a:lumOff val="31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7043"/>
              <a:satOff val="3322"/>
              <a:lumOff val="3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708241" y="1241484"/>
        <a:ext cx="237414" cy="324824"/>
      </dsp:txXfrm>
    </dsp:sp>
    <dsp:sp modelId="{18E32F23-6FFC-4138-916E-2D34D41CB903}">
      <dsp:nvSpPr>
        <dsp:cNvPr id="0" name=""/>
        <dsp:cNvSpPr/>
      </dsp:nvSpPr>
      <dsp:spPr>
        <a:xfrm>
          <a:off x="9239468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4087"/>
            <a:satOff val="6644"/>
            <a:lumOff val="63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4087"/>
              <a:satOff val="6644"/>
              <a:lumOff val="6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336591" y="1986744"/>
        <a:ext cx="237414" cy="324824"/>
      </dsp:txXfrm>
    </dsp:sp>
    <dsp:sp modelId="{DB8D07E9-9B52-48DE-9D1B-0A71D2D38CAD}">
      <dsp:nvSpPr>
        <dsp:cNvPr id="0" name=""/>
        <dsp:cNvSpPr/>
      </dsp:nvSpPr>
      <dsp:spPr>
        <a:xfrm>
          <a:off x="986781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011130"/>
            <a:satOff val="9966"/>
            <a:lumOff val="95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011130"/>
              <a:satOff val="9966"/>
              <a:lumOff val="9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964941" y="2750451"/>
        <a:ext cx="237414" cy="3248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243EC-3C54-46C8-822B-238D36579767}" type="datetimeFigureOut"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87BFF-3ECE-49CD-8B4B-3407243163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34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https://www.prnewswire.com/news-releases/national-survey-reveals-59-of-college-students-considered-dropping-out-due-to-financial-stress-nearly-80-report-negative-impact-on-mental-health-302182593.html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87BFF-3ECE-49CD-8B4B-340724316303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66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30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50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4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2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7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74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5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2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06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2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1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7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alculator, pen, compass, money and a paper with graphs printed on it">
            <a:extLst>
              <a:ext uri="{FF2B5EF4-FFF2-40B4-BE49-F238E27FC236}">
                <a16:creationId xmlns:a16="http://schemas.microsoft.com/office/drawing/2014/main" id="{3065BAA7-93A1-0043-732B-BD48C1D5A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46" r="30767" b="124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Impact of Financial Aid &amp; Tuition on Student Enrollment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1392D7-27E4-038A-B429-D5D7599B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3"/>
            <a:ext cx="2910051" cy="55767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The Challenge: Graduate Enrollment Trends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2118" y="0"/>
            <a:ext cx="752987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F60DE6-19BF-8286-E34E-07B7A356F6F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1926" r="-3" b="997"/>
          <a:stretch>
            <a:fillRect/>
          </a:stretch>
        </p:blipFill>
        <p:spPr>
          <a:xfrm>
            <a:off x="5223743" y="637763"/>
            <a:ext cx="6673617" cy="432031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6" y="3996909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253AE-4665-0742-B45F-A445DB2E7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39976" y="5138642"/>
            <a:ext cx="5592818" cy="1075889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Students states that cost is a primary decision factor with </a:t>
            </a:r>
            <a:r>
              <a:rPr lang="en-US" b="1" dirty="0"/>
              <a:t>76%</a:t>
            </a:r>
            <a:r>
              <a:rPr lang="en-US" dirty="0"/>
              <a:t> students report financial aid influenced their choice and  would switch for $5,000 more.</a:t>
            </a:r>
          </a:p>
        </p:txBody>
      </p:sp>
    </p:spTree>
    <p:extLst>
      <p:ext uri="{BB962C8B-B14F-4D97-AF65-F5344CB8AC3E}">
        <p14:creationId xmlns:p14="http://schemas.microsoft.com/office/powerpoint/2010/main" val="39451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25CB6-4B85-F2CD-BAF5-AE438E3D8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Important Factors in Choosing a School</a:t>
            </a:r>
          </a:p>
        </p:txBody>
      </p:sp>
      <p:pic>
        <p:nvPicPr>
          <p:cNvPr id="4" name="Content Placeholder 3" descr="National Survey Reveals 59% of College Students Considered Dropping Out Due  to Financial Stress; Nearly 80% Report Negative Impact on Mental Health">
            <a:extLst>
              <a:ext uri="{FF2B5EF4-FFF2-40B4-BE49-F238E27FC236}">
                <a16:creationId xmlns:a16="http://schemas.microsoft.com/office/drawing/2014/main" id="{68C3513D-FCDC-0253-5163-14E452869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7316" y="1647902"/>
            <a:ext cx="6780700" cy="355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1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40392692-2E13-7ED7-E5EA-17B33EED2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31006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Benchmarking: UofL's Financial Aid Gap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845790-2775-AB26-2D49-8EC5A66C0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484" y="4367736"/>
            <a:ext cx="3702579" cy="161620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From 2017 to 2021, UofL provided consistently less average financial aid compared to benchmark schools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53CAAAFC-4F7D-BA17-B945-5B87F0ECF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304" y="1624413"/>
            <a:ext cx="5407002" cy="360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91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BF0980-2710-6DD6-33E5-9560618EB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309048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Budget Allocation: Financial Aid Expenditures vs. Total Budget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EA4D9-ECE1-3C74-1CA0-74D74A5CE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484" y="4196080"/>
            <a:ext cx="3702579" cy="1787859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While the total university budget has grown significantly since 2012, Financial Aid Expenditures remain a small percentage of the total budget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561C56-37ED-77A9-13B0-10A25FCA114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034" r="5034"/>
          <a:stretch/>
        </p:blipFill>
        <p:spPr>
          <a:xfrm>
            <a:off x="6005304" y="1294624"/>
            <a:ext cx="5407002" cy="42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8F8A6-BD7E-1B2D-7932-21B6CEFE1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454" y="2560320"/>
            <a:ext cx="4605340" cy="2369026"/>
          </a:xfrm>
          <a:prstGeom prst="ellipse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 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The Result: Rising Expenditures Drive Tuition Increases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F2758-4F1C-5D2C-C2CF-EB5A12236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8454" y="5069840"/>
            <a:ext cx="4605340" cy="73088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Rising university expenditures closely track the increase in tuition costs from 2020-2024</a:t>
            </a:r>
          </a:p>
        </p:txBody>
      </p:sp>
      <p:pic>
        <p:nvPicPr>
          <p:cNvPr id="4" name="Content Placeholder 3" descr="A graph showing the growth of the company&amp;#39;s income&#10;&#10;AI-generated content may be incorrect.">
            <a:extLst>
              <a:ext uri="{FF2B5EF4-FFF2-40B4-BE49-F238E27FC236}">
                <a16:creationId xmlns:a16="http://schemas.microsoft.com/office/drawing/2014/main" id="{21058569-B832-BFA1-B16E-4D551109B6D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alphaModFix/>
          </a:blip>
          <a:srcRect l="18657" r="18656" b="-1"/>
          <a:stretch>
            <a:fillRect/>
          </a:stretch>
        </p:blipFill>
        <p:spPr>
          <a:xfrm>
            <a:off x="5628640" y="1057274"/>
            <a:ext cx="6482080" cy="535368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3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71855B-C4FC-97AB-70DA-F964797E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Reversing the Trend And                                      Prioritizing Student Support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FDDD063A-E3C2-E9E7-0466-FDB4C3FF88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462771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201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Video 12" descr="Neon Pink Question Mark">
            <a:extLst>
              <a:ext uri="{FF2B5EF4-FFF2-40B4-BE49-F238E27FC236}">
                <a16:creationId xmlns:a16="http://schemas.microsoft.com/office/drawing/2014/main" id="{CC51A26D-A374-4067-E7A9-E80114A859F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6A497-F51D-3948-B75B-80534FC9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QUESTIONS? </a:t>
            </a:r>
          </a:p>
        </p:txBody>
      </p:sp>
    </p:spTree>
    <p:extLst>
      <p:ext uri="{BB962C8B-B14F-4D97-AF65-F5344CB8AC3E}">
        <p14:creationId xmlns:p14="http://schemas.microsoft.com/office/powerpoint/2010/main" val="286183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7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mute="1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173</Words>
  <Application>Microsoft Office PowerPoint</Application>
  <PresentationFormat>Widescreen</PresentationFormat>
  <Paragraphs>19</Paragraphs>
  <Slides>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The Impact of Financial Aid &amp; Tuition on Student Enrollment </vt:lpstr>
      <vt:lpstr>The Challenge: Graduate Enrollment Trends</vt:lpstr>
      <vt:lpstr>Important Factors in Choosing a School</vt:lpstr>
      <vt:lpstr>Benchmarking: UofL's Financial Aid Gap</vt:lpstr>
      <vt:lpstr>Budget Allocation: Financial Aid Expenditures vs. Total Budget</vt:lpstr>
      <vt:lpstr>  The Result: Rising Expenditures Drive Tuition Increases  </vt:lpstr>
      <vt:lpstr>Reversing the Trend And                                      Prioritizing Student Support</vt:lpstr>
      <vt:lpstr>QUESTIONS?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Kudakwashe Nyamukondiwa</cp:lastModifiedBy>
  <cp:revision>4</cp:revision>
  <dcterms:created xsi:type="dcterms:W3CDTF">2025-01-30T01:20:22Z</dcterms:created>
  <dcterms:modified xsi:type="dcterms:W3CDTF">2025-11-16T23:46:23Z</dcterms:modified>
</cp:coreProperties>
</file>